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A6472"/>
                </a:solidFill>
                <a:latin typeface="Calibri"/>
              </a:rPr>
              <a:t>CySEC-supervised fund AUM, €b [FILED via CySEC quarterlies]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CySEC-supervised AUM (€b)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Q3-24</c:v>
                  </c:pt>
                  <c:pt idx="1">
                    <c:v>Q4-24</c:v>
                  </c:pt>
                  <c:pt idx="2">
                    <c:v>Q1-25</c:v>
                  </c:pt>
                  <c:pt idx="3">
                    <c:v>Q2-25</c:v>
                  </c:pt>
                  <c:pt idx="4">
                    <c:v>Q3-25</c:v>
                  </c:pt>
                  <c:pt idx="5">
                    <c:v>Q4-25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9.1</c:v>
                </c:pt>
                <c:pt idx="1">
                  <c:v>10.1</c:v>
                </c:pt>
                <c:pt idx="2">
                  <c:v>10.7</c:v>
                </c:pt>
                <c:pt idx="3">
                  <c:v>10.6</c:v>
                </c:pt>
                <c:pt idx="4">
                  <c:v>11.4</c:v>
                </c:pt>
                <c:pt idx="5">
                  <c:v>11.2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EDE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A6472"/>
                </a:solidFill>
                <a:latin typeface="Calibri"/>
              </a:rPr>
              <a:t>Greek M&amp;A value, €b - PwC Deals in Greece series [REPORTED]  (*2023 inferred from PwC 2024)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Greek M&amp;A value (€b)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2023*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10.4</c:v>
                </c:pt>
                <c:pt idx="2">
                  <c:v>6.2</c:v>
                </c:pt>
                <c:pt idx="3">
                  <c:v>12.5</c:v>
                </c:pt>
                <c:pt idx="4">
                  <c:v>18.3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A6472"/>
                </a:solidFill>
                <a:latin typeface="Calibri"/>
              </a:rPr>
              <a:t>NPL ratios, % [FILED] Bank of Greece FSR Oct-25; CBC Feb-26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NPL ratio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Greece peak (Mar-17)</c:v>
                  </c:pt>
                  <c:pt idx="1">
                    <c:v>Greece (Jun-25)</c:v>
                  </c:pt>
                  <c:pt idx="2">
                    <c:v>Cyprus (Dec-25)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49.1</c:v>
                </c:pt>
                <c:pt idx="1">
                  <c:v>3.6</c:v>
                </c:pt>
                <c:pt idx="2">
                  <c:v>3.2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A6472"/>
                </a:solidFill>
                <a:latin typeface="Calibri"/>
              </a:rPr>
              <a:t>RRF envelopes, €b [FILED] EC country pages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RRF envelope (€b)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Greece 2.0</c:v>
                  </c:pt>
                  <c:pt idx="1">
                    <c:v>Cyprus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35.95</c:v>
                </c:pt>
                <c:pt idx="1">
                  <c:v>1.22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DE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743200"/>
            <a:ext cx="8686800" cy="8686800"/>
          </a:xfrm>
          <a:prstGeom prst="ellipse">
            <a:avLst/>
          </a:prstGeom>
          <a:solidFill>
            <a:srgbClr val="151C49"/>
          </a:solidFill>
          <a:ln w="12700">
            <a:solidFill>
              <a:srgbClr val="151C4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49640" y="50292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8366760" y="23774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sponsor buyouts of a Cypriot operating company recorded before 2025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2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CYPRUS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Private Equity Coverage Map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Europe coverage review - the region as funds define it: Greece + Cyprus, 2021-2026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4754880" cy="0"/>
          </a:xfrm>
          <a:prstGeom prst="line">
            <a:avLst/>
          </a:prstGeom>
          <a:noFill/>
          <a:ln w="9525">
            <a:solidFill>
              <a:srgbClr val="9AB3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0749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- Investment Committee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0807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Evidence-labelled throughout: [FILED] filings and official statistics - [REPORTED] press and databases - [INFERRED] analyst reasoning. Gaps stated as NO RELIABLE DATA, never filled.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ON A PAGE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is a domicile with a market attached - the coverage unit is Greece + Cyprus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use only. Not an offer or investment advice.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651052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Regional PE Coverage Map  |  September 2026  |  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2697480" cy="205740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73352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€18.3b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46888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M&amp;A value, 2025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80360"/>
            <a:ext cx="2295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year since 2008; 181 transactions, €23.8b including ECM and privatisations. [REPORTED] PwC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4992" y="1508760"/>
            <a:ext cx="2697480" cy="205740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1673352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7-8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46888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deals &gt;€50m, 2020-H1 2026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880360"/>
            <a:ext cx="2295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all banking, insurance or NPL paper. One to two disclosed events per year. [INFERRED]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1344" y="1508760"/>
            <a:ext cx="2697480" cy="205740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82512" y="1673352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246888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€11.2b CySEC fund AUM deployed locally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2880360"/>
            <a:ext cx="2295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€2.9b touches the Cypriot economy; the rest is domicile business. [FILED] CySEC Q4 2025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97696" y="1508760"/>
            <a:ext cx="2697480" cy="205740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98864" y="1673352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€17.4b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198864" y="246888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bank liquidity - and no LBO market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98864" y="2880360"/>
            <a:ext cx="2295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Cypriot bank runs a sponsor-finance business; acquisition debt must be imported. [FILED] CBC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1109167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95020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and holding domicile first, Greece-adjunct market second. No global or regional fund maintains a Cyprus mandate; every institutional equity event of scale since 2018 arrived via Athens balance sheets or Athens-managed platforms.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Cyprus seat. Attach the island to the Athens/Greece coverage effort with a named-asset watch list reviewed twice a year; treat the funds industry as a domicile-services relationship, not a market.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7315200" cy="7315200"/>
          </a:xfrm>
          <a:prstGeom prst="ellipse">
            <a:avLst/>
          </a:prstGeom>
          <a:solidFill>
            <a:srgbClr val="151C49"/>
          </a:solidFill>
          <a:ln w="12700">
            <a:solidFill>
              <a:srgbClr val="151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457200"/>
            <a:ext cx="4206240" cy="4206240"/>
          </a:xfrm>
          <a:prstGeom prst="ellipse">
            <a:avLst/>
          </a:prstGeom>
          <a:solidFill>
            <a:srgbClr val="1E2761"/>
          </a:solidFill>
          <a:ln w="9525">
            <a:solidFill>
              <a:srgbClr val="9AB3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96596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global funds actually classify Cyprus governs everything that follows - and the evidence is unanimous across coverage structures, data providers and deal behaviour.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  |  CONFIDENTIAL - INTERNAL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0 - DEFINE THE REGION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bodies of evidence return the same answer: not a coverage market in its own right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use only. Not an offer or investment advice.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651052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Regional PE Coverage Map  |  September 2026  |  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581912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coverage structures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3520440" cy="288036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359152"/>
            <a:ext cx="319125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global fund has a Cyprus team, office or country mandate. CVC is the only mega-fund with a dedicated Athens team (&gt;€750m deployed in Greece since 2017); its sole Cyprus exposure was executed by a Greek platform company. Explicit SEE mandates - Bedminster, Global Finance, Mid Europa, ARX - all exclude Cyprus. [REPORTED]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34256" y="1554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3425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92624" y="1581912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Data-provider classification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334256" y="2212848"/>
            <a:ext cx="3520440" cy="288036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98848" y="2359152"/>
            <a:ext cx="319125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Europe groups Southern Europe as Greece, Italy, Portugal, Spain - Cyprus sits in no regional bucket and is excluded from its CEE reports. PitchBook files Cyprus in a residual bucket beside Andorra, Malta, Monaco and San Marino. Preqin: NO RELIABLE DATA on a formal bucket. [REPORTED - verify vs primary PDFs]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19872" y="1554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19872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1581912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deal behaviour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119872" y="2212848"/>
            <a:ext cx="3520440" cy="288036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84464" y="2359152"/>
            <a:ext cx="319125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institutional equity event of scale since 2018 arrived via Athens: Eurobank-Hellenic (~€2.0b implied), Alpha-AstroBank (€205m), CVC/HHG hospitals. Third-party capital touched Cyprus only as credit (~€5b GBV of Helix NPLs to Apollo/PIMCO) or expiring DFI money (EBRD €600m, 2014-2020, exited). [FILED/REPORTED]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inversion that settles it: </a:t>
            </a:r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 Equity Partners, the China-CEE fund, is Nicosia-domiciled and invests everywhere except Cyprus. The only fund ever found with Cyprus inside an SEE mandate is the defunct 2006-vintage 7L Emerging Europe LP ($120.2m, IFC-backed). [FILED] IFC disclosure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0 - DEFINE THE REGION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€11.2b of fund AUM, ~€2.9b touching the island - the funds industry is a domicile shell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use only. Not an offer or investment advice.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651052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Regional PE Coverage Map  |  September 2026  |  3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60020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812280" y="160020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160020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entities: 46 AIFMs, 44 sub-threshold AIFMs, 217 externally managed UCIs [FILED via CySEC]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2569464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30.7%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256946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AIF/RAIF assets classified private equity - but only ~€2b of PE capital is actually deployed on-island [FILED/INFERRED]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3538728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3,674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3538728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across all AIFs/AIFLNPs/RAIFs - mean fund size ~€35-45m [FILED; INFERRED mean]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812280" y="4507992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4507992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Russian FDI flows historically routed via Cypriot SPEs - the origin of the domicile franchise [REPORTED, JMLC 2019]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</a:t>
            </a:r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sells structuring, not capital. Greek GPs structure in Luxembourg; Nicosia-based managers invest abroad.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7315200" cy="7315200"/>
          </a:xfrm>
          <a:prstGeom prst="ellipse">
            <a:avLst/>
          </a:prstGeom>
          <a:solidFill>
            <a:srgbClr val="151C49"/>
          </a:solidFill>
          <a:ln w="12700">
            <a:solidFill>
              <a:srgbClr val="151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457200"/>
            <a:ext cx="4206240" cy="4206240"/>
          </a:xfrm>
          <a:prstGeom prst="ellipse">
            <a:avLst/>
          </a:prstGeom>
          <a:solidFill>
            <a:srgbClr val="1E2761"/>
          </a:solidFill>
          <a:ln w="9525">
            <a:solidFill>
              <a:srgbClr val="9AB3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96596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Activity 2021-2026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Greece quadrupled into a genuine institutional market cleared by sovereign capital; Cyprus stayed a one-to-two-deal-per-year FIG and NPL tape.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  |  CONFIDENTIAL - INTERNAL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1 - DEAL VOLUME AND VALUE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M&amp;A quadrupled to €18.3b in 2025 - the best year since 2008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use only. Not an offer or investment advice.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651052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Regional PE Coverage Map  |  September 2026  |  4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600200"/>
          <a:ext cx="65836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543800" y="1600200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IN FULL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1856232"/>
            <a:ext cx="4096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 transactions; €23.8b total incl. €2.8b ECM and €1.3b privatisations; €28b total capital attracted; 30 more foreign-buyer deals than 2024.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262432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COUNT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2880360"/>
            <a:ext cx="4096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(2022) - 123 (2024) - 181 (2025); average size ~€101-110m.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3648456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SERIES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543800" y="3904488"/>
            <a:ext cx="4096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DATA - no aggregate M&amp;A series exists. The compiled record: 7-8 disclosed deals &gt;€50m in six years, all FIG/NPL except one healthcare slice.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4672584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SECTOR-BY-YEAR MATRIX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4928616"/>
            <a:ext cx="4096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DATA accessible - Invest Europe country tables and full PwC study would settle it.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premises: the circulating '€10.4b in 2021' belongs to 2022 (2021 was €4.3b); PE share of the total is not separately published.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1 - WHO IS ACTIVE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capital is the clearing buyer; local funds are sub-€300m and DFI-seeded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use only. Not an offer or investment advice.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651052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Regional PE Coverage Map  |  September 2026  |  5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94000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and evidence (2021-2026)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sponsors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CVC (HHG, Skroutz, Vivartia, Ethniki, ~17% PPC after €1.2b 2026 cornerstone); Blackstone (Skroutz €635m EV; HIP hotels incl. Grand Hyatt €235m); Oaktree/GSAM (Sani/Ikos, exited); Macquarie (49% HEDNO €2.1b; 50% Enel GP Hellas); Partners Group (Pharmathen €1.6b); H.I.G. (Ella ~€1b platform); Mid Europa (FAMAR); General Atlantic (Epsilon Net). Apollo/KKR: credit only. [FILED/REPORTED]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 / Gulf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GIC (Sani/Ikos €2.3b; 35% of HIP); Masdar (Terna Energy €3.2b EV); PureHealth/ADQ (HHG 60% for €800m); PSP/AviAlliance (AIA control). The marginal clearing buyer 2024-2026. [FILED/REPORTED; INFERRED on the pattern]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/ local funds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EOS II €219m first close; SouthBridge Mezzanine II €170m; Elikonos 2 €71m; Halcyon €208m AUM; Ideal Holdings (listed PE-style: Attica Dept Stores €100m, Barba Stathis €130m). Every vehicle sub-€300m, nearly all DFI-seeded. [REPORTED/FILED]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EBRD Greece €8.3b cumulative, mandate ended Dec 2025; EBRD Cyprus €600m (2014-2020, exited Sep 2025); EIF/EquiFund €448m seeding 9 Greek funds; HDBI &gt;€2b across 35 funds; EIF Cyprus: CEF €27m seeding 33East €26m - the island's only live institutional equity mandate. [FILED]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capital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Latsco (Nova ICT 30%; 10% New Attiki Odos); VNK (Pharmathen co-seller); Prokopiou (~€150m Astir stake); Thrivest (Attica Bank recap). Other shipping-family buy-side: NO RELIABLE DATA. [REPORTED]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Cyprus-specific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Blackstone/HIP (Olympic Lagoon, 2025 - the first institutional PE deal on the island); L1 Health + Blantyre (Remedica, lender-led, 2021); Kedipes (state AMC, €2.94b recovered); servicers Themis (PIMCO), doValue Cyprus, Gordian. [FILED/REPORTED]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1 - PRICING AND EXITS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Trophy assets price at or above Western Europe; Cyprus has no filed multiple at all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use only. Not an offer or investment advice.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651052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Regional PE Coverage Map  |  September 2026  |  6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7208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4884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Chipita - Mondelez (2021)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~€1.7b; ~20x EBITDA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[FILED] 10-K; [REPORTED] multiple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Barba Stathis - Ideal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€130m; 9.3x LTM EBITDA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[FILED] - cleanest filed mid-market print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Pharmathen - Partners Group (2021)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€1.6b EV; 3.4x BC entry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[REPORTED]; multiple undisclosed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Sani/Ikos - GIC (2022)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€2.3b 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[REPORTED]; multiple undisclosed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Eurolife 80% - Eurobank (2025-26)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€813m; ~1.45x P/B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[FILED] Eurobank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Terna Energy - Masdar (2024-25)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€3.2b EV / €2.4b equity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[FILED]; '~12x' unverified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Enel GP Hellas 50% (2023)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~€980m EV; €1.7-2.7m/MW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[FILED]; [INFERRED] per-MW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Cypriot operating company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FILED MULTIPLE EXISTS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is bilateral [INFERRED]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44068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Argos eurozone mid-market EV/EBITDA fell 9.8x (Q4-24) to 8.3x (Q4-25), lowest since 2014 [REPORTED]. The conventional 'Greek discount' has no published index behind it - the one filed print (9.3x) sits inside the Western band.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155448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ROUTES ACTUALLY USED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1874520"/>
            <a:ext cx="4096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sale:  </a:t>
            </a:r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Chipita ~€1.7b; Terna €3.2b EV; HHG 60% €800m; Ethniki ~€600m; Dodoni ~€205m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2569464"/>
            <a:ext cx="4096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Sponsor-to-sponsor:  </a:t>
            </a:r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Pharmathen €1.6b; Skroutz €635m EV; Sani/Ikos - GIC €2.3b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3264408"/>
            <a:ext cx="4096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ATHEX IPO:  </a:t>
            </a:r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 ~€785m (12x covered); Optima; Trade Estates; Noval €52.7m; Dimand ~€98m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543800" y="3959352"/>
            <a:ext cx="4096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listing:  </a:t>
            </a:r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America NYSE ~$384-393m; Metlen LSE / FTSE 100 at ~£5.8b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4654296"/>
            <a:ext cx="4096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GP-led secondaries:  </a:t>
            </a:r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DATA - none documented in Greece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5349240"/>
            <a:ext cx="4096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Stock Exchange:  </a:t>
            </a:r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exit route: zero IPOs of substance 2021-2026; a de-listing venue (Hellenic squeezed out, Louis take-private in motion)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1 - LEVERAGE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NPL era is over on both shores - but Cyprus pairs record liquidity with a leverage vacuum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use only. Not an offer or investment advice.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651052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Regional PE Coverage Map  |  September 2026  |  7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60020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system peaked at €27b of NPLs (2014); Bank of Cyprus NPE ratio peaked at 63%. Cleanup ran through Helix I-III (~€5b GBV to Apollo/PIMCO), Starlight (€1.32b to PIMCO's Oxalis) and Kedipes. [FILED/REPORTED]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1600200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GREECE - BANKS LEND AGAIN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1874520"/>
            <a:ext cx="5285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systemics are the primary acquisition lenders; conservative under ECB leveraged-finance guidance; junior debt reserved for large infra and complex M&amp;A [REPORTED, IFLR]. Published LBO margins: NO RELIABLE DATA. Listed bonds work as acquisition currency (Ideal funded 65% of a €100m buyout with a listed bond [FILED]).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3081528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THE VACUUM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3355848"/>
            <a:ext cx="5285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€17.4b excess liquidity; deposits exceed loans by €30.8b; L/D ~50%; LCR 319% vs EU median 192% [FILED/REPORTED]. Yet no bank runs a disclosed sponsor-finance business and no local private credit fund exists - NO RELIABLE DATA of any. Debt must be imported from Greek banks or international credit [INFERRED].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4562856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FOR UNDERWRITING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4837176"/>
            <a:ext cx="5285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Cyprus deal is equity-heavy or imports leverage. Returns must come from entry price, asset backing or growth - never from leverage. This mechanically selects asset-backed and creditor-led strategies [INFERRED].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1 - RRF AND EU FUNDS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is an acquisition-finance channel in Greece and a fiscal line item in Cyprus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use only. Not an offer or investment advice.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651052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Regional PE Coverage Map  |  September 2026  |  8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645920"/>
          <a:ext cx="42976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257800" y="1645920"/>
            <a:ext cx="6382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GREECE - €36b, RUN THROUGH THE BANKS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257800" y="1920240"/>
            <a:ext cx="6382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€18.22b grants + €17.73b loans (~16% of 2023 GDP). RRF debt covers up to 50% of eligible cost at subsidised rates, sponsor equity of at least 20% is mandatory, banks co-finance the balance; ~€13.3b of the loan arm combined with bank lending and equity has mobilised &gt;€30b of investment. Heaviest absorbers: energy transition and digitalisation. [FILED] EC; greece20.gov.gr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257800" y="3163824"/>
            <a:ext cx="6382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CROWDING READ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257800" y="3438144"/>
            <a:ext cx="6382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asset level the structure crowds equity IN - it contractually requires sponsor equity - but the subsidised tranche competes directly with mezzanine and private credit in the mid-market. [INFERRED - analyst view, not a sourced finding]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4681728"/>
            <a:ext cx="6382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€1.22b, PE-IRRELEVANT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257800" y="4956048"/>
            <a:ext cx="6382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€1,005m grants + €200.3m loans; largest allocations green/energy, digital, health. The €200m loan leg is too small to function as acquisition finance. The single PE-relevant euro: the €27m Cyprus Equity Fund that seeded 33East, the island's first institutional VC vehicle. [FILED] EC; EIF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7315200" cy="7315200"/>
          </a:xfrm>
          <a:prstGeom prst="ellipse">
            <a:avLst/>
          </a:prstGeom>
          <a:solidFill>
            <a:srgbClr val="151C49"/>
          </a:solidFill>
          <a:ln w="12700">
            <a:solidFill>
              <a:srgbClr val="151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457200"/>
            <a:ext cx="4206240" cy="4206240"/>
          </a:xfrm>
          <a:prstGeom prst="ellipse">
            <a:avLst/>
          </a:prstGeom>
          <a:solidFill>
            <a:srgbClr val="1E2761"/>
          </a:solidFill>
          <a:ln w="9525">
            <a:solidFill>
              <a:srgbClr val="9AB3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96596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Sector Map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sector with material activity, unfiltered - what the region trades, what exists on the island, and a verdict per sector: contested, underserved, or structurally uninvestable.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  |  CONFIDENTIAL - INTERNAL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2 - VERDICTS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sectors: two underserved, two contested, five structurally uninvestable on the island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use only. Not an offer or investment advice.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651052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Regional PE Coverage Map  |  September 2026  |  9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976872"/>
                <a:gridCol w="21488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Cyprus inside the sector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Banks / FS / NPLs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Consolidation complete - Greek strategics took Hellenic (~€2.0b implied) and AstroBank (€205m); NPL arc done (3.2% ratio). Residue: BOC paper, Demetra ~€425m cash shell, servicer exits.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CONTESTED - closed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/ pharma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Hospitals consolidated by HHG/PureHealth under GESY. Pharma is the real franchise: Remedica (L1/Blantyre-owned, exit-bound) and Medochemie (~$322m revenue, family succession).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CONTESTED / UNDERSERVED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TMT / software / telecom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ICT is the fastest-growing sector (GVA €3.59b, +11.3% real) but founder/emigre-held with provenance burdens. Accessible: ASBIS, Logicom (listed), picks-and-shovels services.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9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UNINVESTABLE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/ utilities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 and networks politically locked; GSI stalled; Vasilikos in arbitration. Real thesis: BESS against 28-29% curtailment - below ticket size until GSI has a date.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UNDERSERVED - sub-ticket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Hospitality / tourism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proven sector: Blackstone/HIP bought Olympic Lagoon from Kanika (2025), family retains management; Louis perimeter next. Record demand (4m arrivals, €3.2b).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UNDERSERVED - proven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/ F&amp;B / retail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 taken by Sklavenitis (strategic). Pipeline is two names: Charalambides Christis (succession) and Zorbas (growth minority). That is the whole pipeline.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UNDERSERVED - 2 names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Industrials / materials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asset of scale: Vassiliko Cement (~€140m revenue) with immovable anchor shareholders. Nothing else at ticket size.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9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UNINVESTABLE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/ logistics / shipping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Concessions performing (DP World, Eurogate, Hermes). Two dated options: Larnaca re-tender (post-2024 termination) and Hermes 2031. Shipping cluster family-held, no capital need.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9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UNINVESTABLE - 2 dated options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estate / development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equity has no institutional market post-CBI. The REO/servicing channel IS the market - and Apollo/PIMCO-linked platforms already own it.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9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UNINVESTABLE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2 - FINANCIAL SERVICES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banking consolidated into Greek hands in 30 months - the trade is done, the residue is paper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use only. Not an offer or investment advice.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651052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Regional PE Coverage Map  |  September 2026  |  10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633679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Eurobank - Hellenic Bank (2022-25)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~€1.2b spent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37.5% block at €4.843/sh (~€750m); squeeze-out Jun-25; implied 100% ~€2.0b [FILED; INFERRED implied]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Bank - AstroBank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€205m+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#3 bank, &gt;€6.6b assets [FILED]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Hellenic - CNP Cyprus (2024-25)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€182m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~1x book; €236m GWP [FILED]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Helix I-III - Apollo / PIMCO (2019-21)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~€5b GBV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Helix 3: €385m consideration on €993m contractual [REPORTED]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Starlight - PIMCO Oxalis (2022-23)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€1.32b NPE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€320m, ~41% of GBV; APS servicer to Themis [FILED/REPORTED]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HFSF exits (Greece, 2023-24)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~€3.4b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9% to UniCredit €293.5m; NBG 22% ~€1.1b; Piraeus 27% €1.35b [FILED/REPORTED]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466344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institutional-ticket investable: </a:t>
            </a:r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Cyprus equity on ATHEX; Demetra Holdings, the CSE-listed holdco sitting on ~€425m gross proceeds from its Hellenic exit [INFERRED from share count x price] - a genuine special situation; and the servicing/REO platforms (Themis, doValue Cyprus, Gordian), sponsor-owned and destined to trade. Greek bank sector RoTE now 14-16% with cost/income in the mid-30s [REPORTED, GS 2026] - Greek banks are exporters of capital into Cyprus, not targets.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2 - HEALTHCARE AND PHARMA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GESY built the market, HHG bought it - the two assets left are Remedica and a succession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use only. Not an offer or investment advice.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651052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Regional PE Coverage Map  |  September 2026  |  11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920240"/>
                <a:gridCol w="49651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Defining transactions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Pharmathen: BC Partners - Partners Group (2021)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€1.6b 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3.4x BC's 2015 entry of €475m [REPORTED]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HHG 60% - PureHealth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€800m / €2.2b headline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CVC retains 35%; the region's flagship sponsor exit [FILED]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HHG Cyprus buys: Apollonion, Aretaeio, 50% AMC, Evangelismos Paphos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undisclosed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Nicosia/Paphos capacity consolidated; prices NO RELIABLE DATA [REPORTED]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Remedica - L1 Health + Blantyre (2021)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€447m debt exchanged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Lender-led, not an MBO; Ascendis had paid €260m + €75m deferred in 2016 [FILED/REPORTED]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206240"/>
            <a:ext cx="3611880" cy="201168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4334256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GESY - the demand engine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4663440"/>
            <a:ext cx="3282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system live Jun-2019; 2026 health budget €1.51b with ~€870m into GESY; 75 private hospitals contract in. It converted private provision into reimbursable volume - exactly when consolidation began. [FILED/REPORTED]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88536" y="4206240"/>
            <a:ext cx="3611880" cy="201168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53128" y="4334256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Remedica - the actionable asset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453128" y="4663440"/>
            <a:ext cx="3282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Limassol generics, sponsor-held (L1/Blantyre) since 2021 and exit-bound - the single most actionable institutional asset on the island. [INFERRED]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28432" y="4206240"/>
            <a:ext cx="3611880" cy="201168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93024" y="4334256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Medochemie - the succession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193024" y="4663440"/>
            <a:ext cx="3282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~$322m revenue, 15 EU-GMP plants, ~2,000 staff, ~28.9% of Cyprus industrial exports; family-owned, no process. A conversation, not a pipeline entry. [REPORTED]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2 - HOSPITALITY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Cyprus sector with a proven, repeatable institutional model - and a first mover already in it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use only. Not an offer or investment advice.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651052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Regional PE Coverage Map  |  September 2026  |  12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492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defining transactions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Sani/Ikos - GIC control (2022), €900m capex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€2.3b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Blackstone/HIP Greek platform: 10 hotels, 2,639 rooms; Grand Hyatt Athens; €750m capex programme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€235m + portfolio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H.I.G. Ella Hotels platform; Kipriotis Kos control (1,522 rooms,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~€1b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Greek hotel transaction volume 2025 - fifth in Europe [REPORTED, HVS]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€1.119b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1605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demand is verified: </a:t>
            </a:r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 passed 4m in 2024 for the first time; revenue €3.2b (+7.3%); Jul-2025 the all-time monthly record. [REPORTED, CyStat via press]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98348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is family-held: </a:t>
            </a:r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Tsokkos (30 hotels, 8,000+ rooms), Atlantica (TUI JV), Kanika, Constantinou Bros, Louis plc (25 hotels, 13,000+ beds, FY25 revenue €138.6m - take-private in motion). Melco's &gt;€600m City of Dreams is a strategic hold. [REPORTED]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0" y="1554480"/>
            <a:ext cx="4325112" cy="4480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43800" y="178308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PRECEDENT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2103120"/>
            <a:ext cx="3867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Blackstone/HIP - Olympic Lagoon Resorts Paphos (2025)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543800" y="2834640"/>
            <a:ext cx="3867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276 rooms bought from Kanika/Amathus with Kanika retaining management; €15-17m renovation. The first institutional PE hotel deal on the island - it proves the OpCo/PropCo family-manager model works in Cyprus, and HIP has said publicly it is exploring more. [REPORTED, CBN; counsel confirmation]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4892040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asset-backed purchases from families that keep the management contract. Constraint: HIP's first-mover information edge.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2 - TMT AND ENERGY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island's largest growing profit pool is un-buyable; its energy thesis is real but sub-ticket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use only. Not an offer or investment advice.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651052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Regional PE Coverage Map  |  September 2026  |  13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TMT - THE PARADOX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€3.59b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874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GVA 2024, +11.3% real - the fastest-growing sector; services surplus 7.5% of GDP [FILED via CyStat/CBC]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4320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founders and emigres - Exness, Wargaming, TheSoul, BrainRocket, XM - unlevered, un-successioned, with provenance-diligence burdens most LP bases will not carry [INFERRED]. Greek reference prints: Skroutz to Blackstone €635m EV; Epsilon Net and Entersoft take-privates; Viva at ~$2b then litigation; InstaShop's &gt;90% write-down. Accessible instruments: ASBIS (~$3.1-3.4b revenue, Warsaw-listed), Logicom (€1.09b revenue, CSE), Cablenet via Malta-listed GO, cluster services.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50876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- THREE FAILURES, ONE THESIS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28-29%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235440" y="1874520"/>
            <a:ext cx="2404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Cypriot renewable output curtailed for lack of storage and interconnection [REPORTED] - the BESS thesis in one number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743200"/>
            <a:ext cx="52395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 politically locked; competitive market live only since Oct-2025. Great Sea Interconnector (~€1.9b) stalled; Vasilikos LNG EPC terminated Jul-2024 with ~€200m arbitration claims. Upstream gas (Chevron Aphrodite ~$4b plan, first gas ~2032) is IOC territory. Greek reference prints: Terna/Masdar €3.2b EV; Enel Hellas ~€980m EV; CVC €1.2b into PPC (2026). No Cypriot RES platform above €100m EV verifiable - the trigger to re-underwrite is a credible GSI energisation date. [FILED/REPORTED/INFERRED]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600200"/>
            <a:ext cx="0" cy="4114800"/>
          </a:xfrm>
          <a:prstGeom prst="line">
            <a:avLst/>
          </a:prstGeom>
          <a:noFill/>
          <a:ln w="19050">
            <a:solidFill>
              <a:srgbClr val="EDEF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Falsification watch: </a:t>
            </a:r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or structured-minority sale by any founder-held CIF/gaming company to an institutional buyer would reopen the TMT verdict overnight.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2 - CONSUMER, INFRASTRUCTURE, REAL ESTATE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two-name consumer pipeline, two dated concession options, and a REO channel already owned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use only. Not an offer or investment advice.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651052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Regional PE Coverage Map  |  September 2026  | 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59105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/ F&amp;B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611880" cy="397764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249424"/>
            <a:ext cx="328269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playbook: brand-by-brand dismemberment (Vivartia: Dodoni ~€205m, Barba Stathis €130m at 9.3x filed) and listed roll-up (Ideal, Oak Hill-backed); Chipita cleared at ~€1.7b / ~20x. Cyprus: grocery went to Sklavenitis (Papantoniou, Nov-2024, strategic not PE). The pipeline is Charalambides Christis (#1 dairy, succession/secondary) and Zorbas (61 stores + NY concept, growth minority). KEO is Church-anchored (27.09%); Lanitis is CCHBC's. Two names deep - that is the whole pipeline. [FILED/REPORTED/INFERRED]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288536" y="15544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88536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37176" y="159105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88536" y="2103120"/>
            <a:ext cx="3611880" cy="397764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53128" y="2249424"/>
            <a:ext cx="328269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auctions fully priced: Attiki Odos €3.27b; AIA IPO ~€785m at 12x cover; Egnatia €1.35b. Cyprus concessions performing - DP World has NOT exited Limassol; Hermes Airports (Bouygues 22% + consortium) runs to 2031. The two forward events: the Larnaca port/marina re-tender (the state terminated Kition's €1.2b concession May-2024) and Hermes 2031 - the largest Cyprus infra event of the decade ahead. Shipping cluster: €1.9b to the economy, &gt;7% of GDP, family-held, no capital need. [FILED/REPORTED]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028432" y="15544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28432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577072" y="159105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28432" y="2103120"/>
            <a:ext cx="3611880" cy="397764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93024" y="2249424"/>
            <a:ext cx="328269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 cancelled Nov-2020; replacement demand is Israeli (~4,000 purchases since 2021). Developers family-held; no institutional development equity - NO RELIABLE DATA on any PE entry. The institutional market is the distressed/REO channel: Gordian, Themis, doValue Cyprus/Kedipes, with ~€2.5b of property listed for sale - already owned by the credit funds that bought the NPLs. Church of Cyprus: largest landholder (&gt;€1.5b est.), a JV counterparty, not a seller. [REPORTED/INFERRED]</a:t>
            </a:r>
            <a:endParaRPr lang="en-US" sz="9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7315200" cy="7315200"/>
          </a:xfrm>
          <a:prstGeom prst="ellipse">
            <a:avLst/>
          </a:prstGeom>
          <a:solidFill>
            <a:srgbClr val="151C49"/>
          </a:solidFill>
          <a:ln w="12700">
            <a:solidFill>
              <a:srgbClr val="151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457200"/>
            <a:ext cx="4206240" cy="4206240"/>
          </a:xfrm>
          <a:prstGeom prst="ellipse">
            <a:avLst/>
          </a:prstGeom>
          <a:solidFill>
            <a:srgbClr val="1E2761"/>
          </a:solidFill>
          <a:ln w="9525">
            <a:solidFill>
              <a:srgbClr val="9AB3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96596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&amp; Findings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Greece the working strategies end in a sale to sovereign capital. In Cyprus, no strategy that begins with an auction works - because there are no auctions.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  |  CONFIDENTIAL - INTERNAL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3 - WHAT ACTUALLY WORKS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strategies only: champion-building for sovereign exits in Greece; creditor-led and bilateral-family entries in Cyprus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use only. Not an offer or investment advice.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651052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Regional PE Coverage Map  |  September 2026  |  15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840480"/>
                <a:gridCol w="587959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that worked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that one - and where imports fail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Banks / 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Distressed-to-book equity ahead of the re-rating; NPL/servicing ownership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state was a forced seller, banks forced deleveragers. Classic FIG buyouts never happened; in Cyprus the franchises went to Greek strategics - funds only got the paper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Buy-and-build to national champion, exit to sovereign strategic (CVC/HHG)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only with a reimbursement backbone - GESY created it in 2019, exactly when consolidation began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Take-privates at regulatory-tailwind moments; founder minorities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equity at scale fails: the largest profit pools do not sell equity at any price; InstaShop's &gt;90% write-down is the imported-math tombstone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sales to sovereigns; cornerstones in state champions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Gulf cost of capital outbids funds at €1.7-2.7m/MW; the Cyprus BESS-vs-curtailment trade has no Western analogue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Asset-backed OpCo/PropCo from families retaining management (HIP model)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Families sell real estate before identity; management retention turns the succession blocker into the deal feature. The only model with a Cyprus print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Dismemberment and listed roll-up in Greece; succession capital in Cyprus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depth at €100-250m EV is trade buyers, not IPOs; a sub-1m-consumer market leaves buy-and-build nothing to bolt 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/ 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Concession auctions in Greece; re-tender readiness and REO in Cyprus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Cyprus flow is state-failure-generated (Larnaca, Vasilikos) - the strategy is calendar-watching, not auction participation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4 - WHAT THE MAP REVEALS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findings, ranked by how much they should move the IC - each with its falsification test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use only. Not an offer or investment advice.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651052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Regional PE Coverage Map  |  September 2026  |  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61188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6916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166420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closed before any fund arrived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560320"/>
            <a:ext cx="32826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'undiscovered market' thesis is ~5 years late. Between 2022 and 2025 every institutional-grade Cypriot asset that could be bought was bought - by Greek strategics, a CVC platform en route to Abu Dhabi, lenders, and one hotel platform. Not one was a contested sponsor process; not one produced a filed multiple. What remains is a residue: successions, one cash shell, one exit-in-waiting, two concession dates.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5120640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FALSIFIED BY: a primary, non-creditor-led sponsor buyout &gt;€50m EV this research missed - or two such deals in the next 24 months at sub-Argos entry multiples.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288536" y="1508760"/>
            <a:ext cx="3611880" cy="457200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3128" y="16916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5312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038344" y="166420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leverage vacuum no liquidity will fill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53128" y="2560320"/>
            <a:ext cx="32826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€17.4b excess liquidity, deposits over loans by €30.8b, LCR 319% - and zero sponsor-finance capacity. Not cyclical caution: the post-2013 settlement of a two-bank system with a real-estate collateral culture. Every Cyprus deal is equity-heavy or imports debt, so returns come from entry price, asset backing or growth - never leverage. The standard mid-market model does not price here.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4453128" y="5120640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FALSIFIED BY: a Cypriot bank underwriting a sponsor acquisition facility on market terms, or a private credit fund opening a Cyprus lending mandate.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028432" y="1508760"/>
            <a:ext cx="3611880" cy="457200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3024" y="16916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9302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166420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flow is state- and creditor-generated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93024" y="2560320"/>
            <a:ext cx="32826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growing profit pool (ICT, €3.59b GVA) is structurally un-buyable, while every available transaction traces to a state or creditor decision: Larnaca re-tender, Hermes 2031, Kedipes/REO disposals, servicer exits, the Remedica secondary, GSI's fate. Coverage must be calendar- and counterparty-driven - the opposite of a Western sector screen.</a:t>
            </a:r>
            <a:endParaRPr lang="en-US" sz="960" dirty="0"/>
          </a:p>
        </p:txBody>
      </p:sp>
      <p:sp>
        <p:nvSpPr>
          <p:cNvPr id="24" name="Text 22"/>
          <p:cNvSpPr txBox="1"/>
          <p:nvPr/>
        </p:nvSpPr>
        <p:spPr>
          <a:xfrm>
            <a:off x="8193024" y="5120640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FALSIFIED BY: a first institutional sale by a founder-held ICT/CIF company - one print reopens the sector; or both concession events failing to reach market by 2032.</a:t>
            </a:r>
            <a:endParaRPr lang="en-US" sz="8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RECOMMENDATION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Cyprus seat - attach to Athens with a ten-item watch list reviewed twice a year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use only. Not an offer or investment advice.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651052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Regional PE Coverage Map  |  September 2026  |  17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Watch-list 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/ timing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Louis perimeter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hotels, 13,000+ beds; CSE take-private in motion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Post-restructuring asset conversations, 2026-27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Remedica secondary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Limassol generics, L1/Blantyre-owned since 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 exit process - monitor bankers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Demetra redeployment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 holdco, ~€425m gross from Hellenic exit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Capital-allocation announcements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Charalambides Christis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dairy - succession/secondary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Bilateral; shareholder dynamics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Zorbas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stores + New York concept - growth minority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expansion funding 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Medochemie succession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~$322m revenue family pharma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Generational; long horizon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Kanika-model hotel 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sales, family keeps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 HIP's stated expansion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Larnaca re-tender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+ marina, concession terminated May-2024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re-tender 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Hermes Airports 2031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Larnaca + Paphos BOT expiry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Re-tender/extension process from ~2028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Servicer exits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Themis, Gordian, doValue Cyprus platforms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Sponsor-owned; will trade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58200" y="1481328"/>
            <a:ext cx="3182112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59368" y="169164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659368" y="2011680"/>
            <a:ext cx="2779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attaches to the Athens/Greece coverage effort for origination and to fund-formation/domicile services for everything else.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659368" y="3520440"/>
            <a:ext cx="27797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Greek seat is self-justifying: €18.3b of M&amp;A in 2025, proven sponsor exits at €0.6-3.2b, sovereign capital as the clearing buyer. Watch-list review: twice yearly; escalate on any falsification trigger firing.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2560320"/>
            <a:ext cx="7772400" cy="7772400"/>
          </a:xfrm>
          <a:prstGeom prst="ellipse">
            <a:avLst/>
          </a:prstGeom>
          <a:solidFill>
            <a:srgbClr val="151C49"/>
          </a:solidFill>
          <a:ln w="12700">
            <a:solidFill>
              <a:srgbClr val="151C4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23317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the calendar and the families.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461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B3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auctions are not coming.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1206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A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  |  NICOSIA  |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METHOD AND DISCLAIMER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standard and verification notes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VERTU PROJECTS LTD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use only. Not an offer or investment advice.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651052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- Regional PE Coverage Map  |  September 2026  |  18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Method. </a:t>
            </a:r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run August 2026 across five parallel workstreams. Every claim labelled [FILED] (filing, regulator, official statistic), [REPORTED] (press or database, source and date named) or [INFERRED] (analyst reasoning); gaps stated as NO RELIABLE DATA and never filled with plausible numbers.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sources. </a:t>
            </a:r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Greece FSR (Oct-2025); Central Bank of Cyprus (NPL and liquidity releases, 2025-26); CySEC quarterly collective-investment statistics; CyStat national accounts and tourism series; EC RRF country pages; EBRD, EIF and IFC disclosures; issuer announcements and filings (Eurobank, Alpha, CVC, Masdar, PureHealth, Partners Group, Melco, Ideal Holdings, Titan, Metlen, Kedipes, Hellenic Bank, CNP); PwC Deals in Greece series; Argos Index; HVS European Hotel Transactions.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03320"/>
            <a:ext cx="11064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caveats. </a:t>
            </a:r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primary PDFs (Invest Europe, PitchBook methodology, PwC full studies, CySEC statistics pages) were retrieved via search extracts and should be spot-checked before external distribution. Figures corrected against filings during this exercise include: Greek M&amp;A of €10.4b belongs to 2022 (2021 was €4.3b); the Greek NPL peak was 49.1% (Mar-2017); Eurobank's implied Hellenic valuation is ~€2.0b; Remedica's 2021 change of control was lender-led, not an MBO; CVC does hold PPC (~17% post-2026); Bank of Cyprus moved to ATHEX in Sep-2024; DP World has not exited Limassol.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2578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produced by Vertu Projects Ltd for internal information purposes only. It does not constitute an offer, solicitation, investment advice or a recommendation to buy or sell any security or investment product, and it does not reference or promote any collective investment undertaking. Figures are presented with their evidence labels; unverified items are marked and must be confirmed against primary sources before any external use. Not for distribution.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Cyprus - Regional PE Coverage Map</dc:title>
  <dc:subject>PptxGenJS Presentation</dc:subject>
  <dc:creator>Vertu Projects Ltd</dc:creator>
  <cp:lastModifiedBy>Vertu Projects Ltd</cp:lastModifiedBy>
  <cp:revision>1</cp:revision>
  <dcterms:created xsi:type="dcterms:W3CDTF">2026-09-16T06:10:36Z</dcterms:created>
  <dcterms:modified xsi:type="dcterms:W3CDTF">2026-09-16T06:10:36Z</dcterms:modified>
</cp:coreProperties>
</file>